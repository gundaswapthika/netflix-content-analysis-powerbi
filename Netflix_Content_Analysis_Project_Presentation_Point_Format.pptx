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A8B13-F835-42A7-9A25-363B64C31F98}"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9711D6-005C-4F27-9342-859F2E035D47}" type="slidenum">
              <a:rPr lang="en-US" smtClean="0"/>
              <a:t>‹#›</a:t>
            </a:fld>
            <a:endParaRPr lang="en-US"/>
          </a:p>
        </p:txBody>
      </p:sp>
    </p:spTree>
    <p:extLst>
      <p:ext uri="{BB962C8B-B14F-4D97-AF65-F5344CB8AC3E}">
        <p14:creationId xmlns:p14="http://schemas.microsoft.com/office/powerpoint/2010/main" val="13484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9711D6-005C-4F27-9342-859F2E035D47}" type="slidenum">
              <a:rPr lang="en-US" smtClean="0"/>
              <a:t>3</a:t>
            </a:fld>
            <a:endParaRPr lang="en-US"/>
          </a:p>
        </p:txBody>
      </p:sp>
    </p:spTree>
    <p:extLst>
      <p:ext uri="{BB962C8B-B14F-4D97-AF65-F5344CB8AC3E}">
        <p14:creationId xmlns:p14="http://schemas.microsoft.com/office/powerpoint/2010/main" val="3288874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5080237" cy="1323439"/>
          </a:xfrm>
          <a:prstGeom prst="rect">
            <a:avLst/>
          </a:prstGeom>
          <a:noFill/>
        </p:spPr>
        <p:txBody>
          <a:bodyPr wrap="none">
            <a:spAutoFit/>
          </a:bodyPr>
          <a:lstStyle/>
          <a:p>
            <a:pPr>
              <a:defRPr sz="2700" b="1">
                <a:solidFill>
                  <a:srgbClr val="E50914"/>
                </a:solidFill>
                <a:latin typeface="Arial"/>
              </a:defRPr>
            </a:pPr>
            <a:r>
              <a:rPr sz="4000" dirty="0"/>
              <a:t>NETFLIX CONTENT </a:t>
            </a:r>
            <a:endParaRPr lang="en-US" sz="4000" dirty="0"/>
          </a:p>
          <a:p>
            <a:pPr>
              <a:defRPr sz="2700" b="1">
                <a:solidFill>
                  <a:srgbClr val="E50914"/>
                </a:solidFill>
                <a:latin typeface="Arial"/>
              </a:defRPr>
            </a:pPr>
            <a:r>
              <a:rPr sz="4000" dirty="0"/>
              <a:t>ANALYSIS</a:t>
            </a:r>
          </a:p>
        </p:txBody>
      </p:sp>
      <p:sp>
        <p:nvSpPr>
          <p:cNvPr id="4" name="TextBox 3"/>
          <p:cNvSpPr txBox="1"/>
          <p:nvPr/>
        </p:nvSpPr>
        <p:spPr>
          <a:xfrm>
            <a:off x="502920" y="1868596"/>
            <a:ext cx="5303520" cy="4411464"/>
          </a:xfrm>
          <a:prstGeom prst="rect">
            <a:avLst/>
          </a:prstGeom>
          <a:noFill/>
        </p:spPr>
        <p:txBody>
          <a:bodyPr wrap="square">
            <a:spAutoFit/>
          </a:bodyPr>
          <a:lstStyle/>
          <a:p>
            <a:pPr>
              <a:spcAft>
                <a:spcPts val="800"/>
              </a:spcAft>
              <a:defRPr sz="2000">
                <a:solidFill>
                  <a:srgbClr val="F5F5F5"/>
                </a:solidFill>
                <a:latin typeface="Arial"/>
              </a:defRPr>
            </a:pPr>
            <a:r>
              <a:rPr sz="1400" dirty="0"/>
              <a:t>POWER BI PROJECT</a:t>
            </a:r>
          </a:p>
          <a:p>
            <a:pPr>
              <a:spcAft>
                <a:spcPts val="800"/>
              </a:spcAft>
              <a:defRPr sz="2000">
                <a:solidFill>
                  <a:srgbClr val="F5F5F5"/>
                </a:solidFill>
                <a:latin typeface="Arial"/>
              </a:defRPr>
            </a:pPr>
            <a:r>
              <a:rPr dirty="0"/>
              <a:t>Detailed Project Presentation</a:t>
            </a:r>
          </a:p>
          <a:p>
            <a:pPr>
              <a:spcAft>
                <a:spcPts val="800"/>
              </a:spcAft>
              <a:defRPr sz="2000">
                <a:solidFill>
                  <a:srgbClr val="F5F5F5"/>
                </a:solidFill>
                <a:latin typeface="Arial"/>
              </a:defRPr>
            </a:pPr>
            <a:endParaRPr dirty="0"/>
          </a:p>
          <a:p>
            <a:pPr>
              <a:spcAft>
                <a:spcPts val="800"/>
              </a:spcAft>
              <a:defRPr sz="2000">
                <a:solidFill>
                  <a:srgbClr val="F5F5F5"/>
                </a:solidFill>
                <a:latin typeface="Arial"/>
              </a:defRPr>
            </a:pPr>
            <a:endParaRPr lang="en-US" dirty="0"/>
          </a:p>
          <a:p>
            <a:pPr>
              <a:spcAft>
                <a:spcPts val="800"/>
              </a:spcAft>
              <a:defRPr sz="2000">
                <a:solidFill>
                  <a:srgbClr val="F5F5F5"/>
                </a:solidFill>
                <a:latin typeface="Arial"/>
              </a:defRPr>
            </a:pPr>
            <a:endParaRPr lang="en-US" dirty="0"/>
          </a:p>
          <a:p>
            <a:pPr>
              <a:spcAft>
                <a:spcPts val="800"/>
              </a:spcAft>
              <a:defRPr sz="2000">
                <a:solidFill>
                  <a:srgbClr val="F5F5F5"/>
                </a:solidFill>
                <a:latin typeface="Arial"/>
              </a:defRPr>
            </a:pPr>
            <a:endParaRPr lang="en-US" dirty="0"/>
          </a:p>
          <a:p>
            <a:pPr>
              <a:spcAft>
                <a:spcPts val="800"/>
              </a:spcAft>
              <a:defRPr sz="2000">
                <a:solidFill>
                  <a:srgbClr val="F5F5F5"/>
                </a:solidFill>
                <a:latin typeface="Arial"/>
              </a:defRPr>
            </a:pPr>
            <a:endParaRPr lang="en-US" dirty="0"/>
          </a:p>
          <a:p>
            <a:pPr>
              <a:spcAft>
                <a:spcPts val="800"/>
              </a:spcAft>
              <a:defRPr sz="2000">
                <a:solidFill>
                  <a:srgbClr val="F5F5F5"/>
                </a:solidFill>
                <a:latin typeface="Arial"/>
              </a:defRPr>
            </a:pPr>
            <a:r>
              <a:rPr dirty="0"/>
              <a:t>Submitted By: Gunda </a:t>
            </a:r>
            <a:r>
              <a:rPr dirty="0" err="1"/>
              <a:t>Swapthika</a:t>
            </a:r>
            <a:endParaRPr dirty="0"/>
          </a:p>
          <a:p>
            <a:pPr>
              <a:spcAft>
                <a:spcPts val="800"/>
              </a:spcAft>
              <a:defRPr sz="2000">
                <a:solidFill>
                  <a:srgbClr val="F5F5F5"/>
                </a:solidFill>
                <a:latin typeface="Arial"/>
              </a:defRPr>
            </a:pPr>
            <a:r>
              <a:rPr dirty="0"/>
              <a:t>Trainer Name: Mangali Rakesh</a:t>
            </a:r>
          </a:p>
          <a:p>
            <a:pPr>
              <a:spcAft>
                <a:spcPts val="800"/>
              </a:spcAft>
              <a:defRPr sz="2000">
                <a:solidFill>
                  <a:srgbClr val="F5F5F5"/>
                </a:solidFill>
                <a:latin typeface="Arial"/>
              </a:defRPr>
            </a:pPr>
            <a:r>
              <a:rPr dirty="0"/>
              <a:t>Tool Used: Microsoft Power BI</a:t>
            </a:r>
          </a:p>
          <a:p>
            <a:pPr>
              <a:spcAft>
                <a:spcPts val="800"/>
              </a:spcAft>
              <a:defRPr sz="2000">
                <a:solidFill>
                  <a:srgbClr val="F5F5F5"/>
                </a:solidFill>
                <a:latin typeface="Arial"/>
              </a:defRPr>
            </a:pPr>
            <a:r>
              <a:rPr dirty="0"/>
              <a:t>Dataset: Netflix Titles Dataset</a:t>
            </a:r>
          </a:p>
        </p:txBody>
      </p:sp>
      <p:pic>
        <p:nvPicPr>
          <p:cNvPr id="7" name="Picture 6">
            <a:extLst>
              <a:ext uri="{FF2B5EF4-FFF2-40B4-BE49-F238E27FC236}">
                <a16:creationId xmlns:a16="http://schemas.microsoft.com/office/drawing/2014/main" id="{658B96B0-B3F7-0FE4-2057-AB738941A2A6}"/>
              </a:ext>
            </a:extLst>
          </p:cNvPr>
          <p:cNvPicPr>
            <a:picLocks noChangeAspect="1"/>
          </p:cNvPicPr>
          <p:nvPr/>
        </p:nvPicPr>
        <p:blipFill>
          <a:blip r:embed="rId2"/>
          <a:stretch>
            <a:fillRect/>
          </a:stretch>
        </p:blipFill>
        <p:spPr>
          <a:xfrm>
            <a:off x="5310673" y="2394857"/>
            <a:ext cx="5760100" cy="730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1. INTRODUCTION</a:t>
            </a:r>
          </a:p>
        </p:txBody>
      </p:sp>
      <p:pic>
        <p:nvPicPr>
          <p:cNvPr id="5" name="Picture 4" descr="image2.png"/>
          <p:cNvPicPr>
            <a:picLocks noChangeAspect="1"/>
          </p:cNvPicPr>
          <p:nvPr/>
        </p:nvPicPr>
        <p:blipFill>
          <a:blip r:embed="rId2"/>
          <a:stretch>
            <a:fillRect/>
          </a:stretch>
        </p:blipFill>
        <p:spPr>
          <a:xfrm>
            <a:off x="7315200" y="1371600"/>
            <a:ext cx="4206240" cy="2367268"/>
          </a:xfrm>
          <a:prstGeom prst="rect">
            <a:avLst/>
          </a:prstGeom>
        </p:spPr>
      </p:pic>
      <p:sp>
        <p:nvSpPr>
          <p:cNvPr id="6" name="TextBox 5"/>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Netflix is a popular digital streaming platform that provides movies, television shows, documentaries and other entertainment content.</a:t>
            </a:r>
          </a:p>
          <a:p>
            <a:pPr>
              <a:spcAft>
                <a:spcPts val="600"/>
              </a:spcAft>
              <a:defRPr sz="1500">
                <a:solidFill>
                  <a:srgbClr val="F5F5F5"/>
                </a:solidFill>
                <a:latin typeface="Arial"/>
              </a:defRPr>
            </a:pPr>
            <a:r>
              <a:rPr dirty="0"/>
              <a:t>• The Netflix Titles Dataset contains structured information about titles available on Netflix. Important fields include </a:t>
            </a:r>
            <a:r>
              <a:rPr dirty="0" err="1"/>
              <a:t>show_id</a:t>
            </a:r>
            <a:r>
              <a:rPr dirty="0"/>
              <a:t>, title, type, director, cast, country, </a:t>
            </a:r>
            <a:r>
              <a:rPr dirty="0" err="1"/>
              <a:t>date_added</a:t>
            </a:r>
            <a:r>
              <a:rPr dirty="0"/>
              <a:t>, </a:t>
            </a:r>
            <a:r>
              <a:rPr dirty="0" err="1"/>
              <a:t>release_year</a:t>
            </a:r>
            <a:r>
              <a:rPr dirty="0"/>
              <a:t>, rating, duration, </a:t>
            </a:r>
            <a:r>
              <a:rPr dirty="0" err="1"/>
              <a:t>listed_in</a:t>
            </a:r>
            <a:r>
              <a:rPr dirty="0"/>
              <a:t> and description.</a:t>
            </a:r>
          </a:p>
          <a:p>
            <a:pPr>
              <a:spcAft>
                <a:spcPts val="600"/>
              </a:spcAft>
              <a:defRPr sz="1500">
                <a:solidFill>
                  <a:srgbClr val="F5F5F5"/>
                </a:solidFill>
                <a:latin typeface="Arial"/>
              </a:defRPr>
            </a:pPr>
            <a:r>
              <a:rPr dirty="0"/>
              <a:t>• In this project, Microsoft Power BI was used to import, clean, transform, analyze and visualize the dataset.</a:t>
            </a:r>
          </a:p>
          <a:p>
            <a:pPr>
              <a:spcAft>
                <a:spcPts val="600"/>
              </a:spcAft>
              <a:defRPr sz="1500">
                <a:solidFill>
                  <a:srgbClr val="F5F5F5"/>
                </a:solidFill>
                <a:latin typeface="Arial"/>
              </a:defRPr>
            </a:pPr>
            <a:r>
              <a:rPr dirty="0"/>
              <a:t>• The final dashboard converts thousands of records into understandable KPI cards, charts and comparisons. It helps users study content types, genres, ratings, countries and time-based trends.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2. PROJECT OBJECTIVES</a:t>
            </a:r>
          </a:p>
        </p:txBody>
      </p:sp>
      <p:pic>
        <p:nvPicPr>
          <p:cNvPr id="5" name="Picture 4" descr="image3.png"/>
          <p:cNvPicPr>
            <a:picLocks noChangeAspect="1"/>
          </p:cNvPicPr>
          <p:nvPr/>
        </p:nvPicPr>
        <p:blipFill>
          <a:blip r:embed="rId3"/>
          <a:stretch>
            <a:fillRect/>
          </a:stretch>
        </p:blipFill>
        <p:spPr>
          <a:xfrm>
            <a:off x="7315200" y="1371600"/>
            <a:ext cx="4206240" cy="4083877"/>
          </a:xfrm>
          <a:prstGeom prst="rect">
            <a:avLst/>
          </a:prstGeom>
        </p:spPr>
      </p:pic>
      <p:sp>
        <p:nvSpPr>
          <p:cNvPr id="6" name="TextBox 5"/>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The main objectives of this project were to understand the structure of the Netflix Titles Dataset and prepare it for analysis.</a:t>
            </a:r>
          </a:p>
          <a:p>
            <a:pPr>
              <a:spcAft>
                <a:spcPts val="600"/>
              </a:spcAft>
              <a:defRPr sz="1500">
                <a:solidFill>
                  <a:srgbClr val="F5F5F5"/>
                </a:solidFill>
                <a:latin typeface="Arial"/>
              </a:defRPr>
            </a:pPr>
            <a:r>
              <a:rPr dirty="0"/>
              <a:t>• Identify the total number of titles available in the dataset.</a:t>
            </a:r>
          </a:p>
          <a:p>
            <a:pPr>
              <a:spcAft>
                <a:spcPts val="600"/>
              </a:spcAft>
              <a:defRPr sz="1500">
                <a:solidFill>
                  <a:srgbClr val="F5F5F5"/>
                </a:solidFill>
                <a:latin typeface="Arial"/>
              </a:defRPr>
            </a:pPr>
            <a:r>
              <a:rPr dirty="0"/>
              <a:t>• Compare Movies and TV Shows and understand the content mix.</a:t>
            </a:r>
          </a:p>
          <a:p>
            <a:pPr>
              <a:spcAft>
                <a:spcPts val="600"/>
              </a:spcAft>
              <a:defRPr sz="1500">
                <a:solidFill>
                  <a:srgbClr val="F5F5F5"/>
                </a:solidFill>
                <a:latin typeface="Arial"/>
              </a:defRPr>
            </a:pPr>
            <a:r>
              <a:rPr dirty="0"/>
              <a:t>• Analyze genres, ratings, countries and release-year distribution.</a:t>
            </a:r>
          </a:p>
          <a:p>
            <a:pPr>
              <a:spcAft>
                <a:spcPts val="600"/>
              </a:spcAft>
              <a:defRPr sz="1500">
                <a:solidFill>
                  <a:srgbClr val="F5F5F5"/>
                </a:solidFill>
                <a:latin typeface="Arial"/>
              </a:defRPr>
            </a:pPr>
            <a:r>
              <a:rPr dirty="0"/>
              <a:t>• Study the number of titles added to Netflix during different months.</a:t>
            </a:r>
          </a:p>
          <a:p>
            <a:pPr>
              <a:spcAft>
                <a:spcPts val="600"/>
              </a:spcAft>
              <a:defRPr sz="1500">
                <a:solidFill>
                  <a:srgbClr val="F5F5F5"/>
                </a:solidFill>
                <a:latin typeface="Arial"/>
              </a:defRPr>
            </a:pPr>
            <a:r>
              <a:rPr dirty="0"/>
              <a:t>• Review missing values, duplicate records, inconsistent text and incorrect data types.</a:t>
            </a:r>
          </a:p>
          <a:p>
            <a:pPr>
              <a:spcAft>
                <a:spcPts val="600"/>
              </a:spcAft>
              <a:defRPr sz="1500">
                <a:solidFill>
                  <a:srgbClr val="F5F5F5"/>
                </a:solidFill>
                <a:latin typeface="Arial"/>
              </a:defRPr>
            </a:pPr>
            <a:r>
              <a:rPr dirty="0"/>
              <a:t>• Use Power Query, DAX concepts and Power BI visuals to create a professional dashboard.</a:t>
            </a:r>
          </a:p>
          <a:p>
            <a:pPr>
              <a:spcAft>
                <a:spcPts val="600"/>
              </a:spcAft>
              <a:defRPr sz="1500">
                <a:solidFill>
                  <a:srgbClr val="F5F5F5"/>
                </a:solidFill>
                <a:latin typeface="Arial"/>
              </a:defRPr>
            </a:pPr>
            <a:r>
              <a:rPr dirty="0"/>
              <a:t>• Present the findings in a clear and understandable format.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 calcmode="lin" valueType="num">
                                      <p:cBhvr>
                                        <p:cTn id="14" dur="1000" fill="hold"/>
                                        <p:tgtEl>
                                          <p:spTgt spid="6"/>
                                        </p:tgtEl>
                                        <p:attrNameLst>
                                          <p:attrName>style.rotation</p:attrName>
                                        </p:attrNameLst>
                                      </p:cBhvr>
                                      <p:tavLst>
                                        <p:tav tm="0">
                                          <p:val>
                                            <p:fltVal val="90"/>
                                          </p:val>
                                        </p:tav>
                                        <p:tav tm="100000">
                                          <p:val>
                                            <p:fltVal val="0"/>
                                          </p:val>
                                        </p:tav>
                                      </p:tavLst>
                                    </p:anim>
                                    <p:animEffect transition="in" filter="fad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45"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2000"/>
                                        <p:tgtEl>
                                          <p:spTgt spid="5"/>
                                        </p:tgtEl>
                                      </p:cBhvr>
                                    </p:animEffect>
                                    <p:anim calcmode="lin" valueType="num">
                                      <p:cBhvr>
                                        <p:cTn id="21" dur="2000" fill="hold"/>
                                        <p:tgtEl>
                                          <p:spTgt spid="5"/>
                                        </p:tgtEl>
                                        <p:attrNameLst>
                                          <p:attrName>ppt_w</p:attrName>
                                        </p:attrNameLst>
                                      </p:cBhvr>
                                      <p:tavLst>
                                        <p:tav tm="0" fmla="#ppt_w*sin(2.5*pi*$)">
                                          <p:val>
                                            <p:fltVal val="0"/>
                                          </p:val>
                                        </p:tav>
                                        <p:tav tm="100000">
                                          <p:val>
                                            <p:fltVal val="1"/>
                                          </p:val>
                                        </p:tav>
                                      </p:tavLst>
                                    </p:anim>
                                    <p:anim calcmode="lin" valueType="num">
                                      <p:cBhvr>
                                        <p:cTn id="22"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3. DATASET OVERVIEW</a:t>
            </a:r>
          </a:p>
        </p:txBody>
      </p:sp>
      <p:pic>
        <p:nvPicPr>
          <p:cNvPr id="5" name="Picture 4" descr="image4.png"/>
          <p:cNvPicPr>
            <a:picLocks noChangeAspect="1"/>
          </p:cNvPicPr>
          <p:nvPr/>
        </p:nvPicPr>
        <p:blipFill>
          <a:blip r:embed="rId2"/>
          <a:stretch>
            <a:fillRect/>
          </a:stretch>
        </p:blipFill>
        <p:spPr>
          <a:xfrm>
            <a:off x="6095846" y="3973286"/>
            <a:ext cx="5379873" cy="2564674"/>
          </a:xfrm>
          <a:prstGeom prst="rect">
            <a:avLst/>
          </a:prstGeom>
        </p:spPr>
      </p:pic>
      <p:sp>
        <p:nvSpPr>
          <p:cNvPr id="6" name="TextBox 5"/>
          <p:cNvSpPr txBox="1"/>
          <p:nvPr/>
        </p:nvSpPr>
        <p:spPr>
          <a:xfrm>
            <a:off x="180703"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The project uses the Netflix Titles Dataset stored in CSV format. Each row represents one movie or television show, while each column represents an attribute of that title.</a:t>
            </a:r>
          </a:p>
          <a:p>
            <a:pPr>
              <a:spcAft>
                <a:spcPts val="600"/>
              </a:spcAft>
              <a:defRPr sz="1500">
                <a:solidFill>
                  <a:srgbClr val="F5F5F5"/>
                </a:solidFill>
                <a:latin typeface="Arial"/>
              </a:defRPr>
            </a:pPr>
            <a:r>
              <a:rPr dirty="0"/>
              <a:t>• The dataset contains descriptive fields such as title, director, cast and description. It also contains categorical fields such as type, rating and </a:t>
            </a:r>
            <a:r>
              <a:rPr dirty="0" err="1"/>
              <a:t>listed_in</a:t>
            </a:r>
            <a:r>
              <a:rPr dirty="0"/>
              <a:t>.</a:t>
            </a:r>
          </a:p>
          <a:p>
            <a:pPr>
              <a:spcAft>
                <a:spcPts val="600"/>
              </a:spcAft>
              <a:defRPr sz="1500">
                <a:solidFill>
                  <a:srgbClr val="F5F5F5"/>
                </a:solidFill>
                <a:latin typeface="Arial"/>
              </a:defRPr>
            </a:pPr>
            <a:r>
              <a:rPr dirty="0"/>
              <a:t>• Country-related fields support country-wise analysis. Time-related fields such as </a:t>
            </a:r>
            <a:r>
              <a:rPr dirty="0" err="1"/>
              <a:t>release_year</a:t>
            </a:r>
            <a:r>
              <a:rPr dirty="0"/>
              <a:t> and </a:t>
            </a:r>
            <a:r>
              <a:rPr dirty="0" err="1"/>
              <a:t>date_added</a:t>
            </a:r>
            <a:r>
              <a:rPr dirty="0"/>
              <a:t> support trend analysis.</a:t>
            </a:r>
          </a:p>
          <a:p>
            <a:pPr>
              <a:spcAft>
                <a:spcPts val="600"/>
              </a:spcAft>
              <a:defRPr sz="1500">
                <a:solidFill>
                  <a:srgbClr val="F5F5F5"/>
                </a:solidFill>
                <a:latin typeface="Arial"/>
              </a:defRPr>
            </a:pPr>
            <a:r>
              <a:rPr dirty="0"/>
              <a:t>• Because the dataset contains both categorical and time-based information, it is suitable for bar charts, donut charts, </a:t>
            </a:r>
            <a:r>
              <a:rPr dirty="0" err="1"/>
              <a:t>treemaps</a:t>
            </a:r>
            <a:r>
              <a:rPr dirty="0"/>
              <a:t>, line charts, area charts, column charts and KPI cards.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4. DATA SET</a:t>
            </a:r>
          </a:p>
        </p:txBody>
      </p:sp>
      <p:sp>
        <p:nvSpPr>
          <p:cNvPr id="4" name="TextBox 3"/>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The major dataset columns used in the project are:</a:t>
            </a:r>
          </a:p>
          <a:p>
            <a:pPr>
              <a:spcAft>
                <a:spcPts val="600"/>
              </a:spcAft>
              <a:defRPr sz="1500">
                <a:solidFill>
                  <a:srgbClr val="F5F5F5"/>
                </a:solidFill>
                <a:latin typeface="Arial"/>
              </a:defRPr>
            </a:pPr>
            <a:r>
              <a:rPr dirty="0"/>
              <a:t>• </a:t>
            </a:r>
            <a:r>
              <a:rPr dirty="0" err="1"/>
              <a:t>show_id</a:t>
            </a:r>
            <a:r>
              <a:rPr dirty="0"/>
              <a:t> – unique identification number of the title.</a:t>
            </a:r>
          </a:p>
          <a:p>
            <a:pPr>
              <a:spcAft>
                <a:spcPts val="600"/>
              </a:spcAft>
              <a:defRPr sz="1500">
                <a:solidFill>
                  <a:srgbClr val="F5F5F5"/>
                </a:solidFill>
                <a:latin typeface="Arial"/>
              </a:defRPr>
            </a:pPr>
            <a:r>
              <a:rPr dirty="0"/>
              <a:t>• type – identifies whether the title is a Movie or TV Show.</a:t>
            </a:r>
          </a:p>
          <a:p>
            <a:pPr>
              <a:spcAft>
                <a:spcPts val="600"/>
              </a:spcAft>
              <a:defRPr sz="1500">
                <a:solidFill>
                  <a:srgbClr val="F5F5F5"/>
                </a:solidFill>
                <a:latin typeface="Arial"/>
              </a:defRPr>
            </a:pPr>
            <a:r>
              <a:rPr dirty="0"/>
              <a:t>• title – name of the movie or television show.</a:t>
            </a:r>
          </a:p>
          <a:p>
            <a:pPr>
              <a:spcAft>
                <a:spcPts val="600"/>
              </a:spcAft>
              <a:defRPr sz="1500">
                <a:solidFill>
                  <a:srgbClr val="F5F5F5"/>
                </a:solidFill>
                <a:latin typeface="Arial"/>
              </a:defRPr>
            </a:pPr>
            <a:r>
              <a:rPr dirty="0"/>
              <a:t>• director and cast – people connected with the title.</a:t>
            </a:r>
          </a:p>
          <a:p>
            <a:pPr>
              <a:spcAft>
                <a:spcPts val="600"/>
              </a:spcAft>
              <a:defRPr sz="1500">
                <a:solidFill>
                  <a:srgbClr val="F5F5F5"/>
                </a:solidFill>
                <a:latin typeface="Arial"/>
              </a:defRPr>
            </a:pPr>
            <a:r>
              <a:rPr dirty="0"/>
              <a:t>• country – country or countries associated with the content.</a:t>
            </a:r>
          </a:p>
          <a:p>
            <a:pPr>
              <a:spcAft>
                <a:spcPts val="600"/>
              </a:spcAft>
              <a:defRPr sz="1500">
                <a:solidFill>
                  <a:srgbClr val="F5F5F5"/>
                </a:solidFill>
                <a:latin typeface="Arial"/>
              </a:defRPr>
            </a:pPr>
            <a:r>
              <a:rPr dirty="0"/>
              <a:t>• </a:t>
            </a:r>
            <a:r>
              <a:rPr dirty="0" err="1"/>
              <a:t>date_added</a:t>
            </a:r>
            <a:r>
              <a:rPr dirty="0"/>
              <a:t> – date on which the title was added to Netflix.</a:t>
            </a:r>
          </a:p>
          <a:p>
            <a:pPr>
              <a:spcAft>
                <a:spcPts val="600"/>
              </a:spcAft>
              <a:defRPr sz="1500">
                <a:solidFill>
                  <a:srgbClr val="F5F5F5"/>
                </a:solidFill>
                <a:latin typeface="Arial"/>
              </a:defRPr>
            </a:pPr>
            <a:r>
              <a:rPr dirty="0"/>
              <a:t>• </a:t>
            </a:r>
            <a:r>
              <a:rPr dirty="0" err="1"/>
              <a:t>release_year</a:t>
            </a:r>
            <a:r>
              <a:rPr dirty="0"/>
              <a:t> – original release year.</a:t>
            </a:r>
          </a:p>
          <a:p>
            <a:pPr>
              <a:spcAft>
                <a:spcPts val="600"/>
              </a:spcAft>
              <a:defRPr sz="1500">
                <a:solidFill>
                  <a:srgbClr val="F5F5F5"/>
                </a:solidFill>
                <a:latin typeface="Arial"/>
              </a:defRPr>
            </a:pPr>
            <a:r>
              <a:rPr dirty="0"/>
              <a:t>• rating – audience classification or age rating.</a:t>
            </a:r>
          </a:p>
          <a:p>
            <a:pPr>
              <a:spcAft>
                <a:spcPts val="600"/>
              </a:spcAft>
              <a:defRPr sz="1500">
                <a:solidFill>
                  <a:srgbClr val="F5F5F5"/>
                </a:solidFill>
                <a:latin typeface="Arial"/>
              </a:defRPr>
            </a:pPr>
            <a:r>
              <a:rPr dirty="0"/>
              <a:t>• duration – movie duration or number of TV show seasons.</a:t>
            </a:r>
          </a:p>
          <a:p>
            <a:pPr>
              <a:spcAft>
                <a:spcPts val="600"/>
              </a:spcAft>
              <a:defRPr sz="1500">
                <a:solidFill>
                  <a:srgbClr val="F5F5F5"/>
                </a:solidFill>
                <a:latin typeface="Arial"/>
              </a:defRPr>
            </a:pPr>
            <a:r>
              <a:rPr dirty="0"/>
              <a:t>• </a:t>
            </a:r>
            <a:r>
              <a:rPr dirty="0" err="1"/>
              <a:t>listed_in</a:t>
            </a:r>
            <a:r>
              <a:rPr dirty="0"/>
              <a:t> – genres or categories.</a:t>
            </a:r>
          </a:p>
          <a:p>
            <a:pPr>
              <a:spcAft>
                <a:spcPts val="600"/>
              </a:spcAft>
              <a:defRPr sz="1500">
                <a:solidFill>
                  <a:srgbClr val="F5F5F5"/>
                </a:solidFill>
                <a:latin typeface="Arial"/>
              </a:defRPr>
            </a:pPr>
            <a:r>
              <a:rPr dirty="0"/>
              <a:t>• description – short summary of the content.</a:t>
            </a:r>
          </a:p>
        </p:txBody>
      </p:sp>
      <p:pic>
        <p:nvPicPr>
          <p:cNvPr id="6" name="Picture 5">
            <a:extLst>
              <a:ext uri="{FF2B5EF4-FFF2-40B4-BE49-F238E27FC236}">
                <a16:creationId xmlns:a16="http://schemas.microsoft.com/office/drawing/2014/main" id="{AF4C3215-24E3-8776-3788-6F2104A21E13}"/>
              </a:ext>
            </a:extLst>
          </p:cNvPr>
          <p:cNvPicPr>
            <a:picLocks noChangeAspect="1"/>
          </p:cNvPicPr>
          <p:nvPr/>
        </p:nvPicPr>
        <p:blipFill>
          <a:blip r:embed="rId2"/>
          <a:stretch>
            <a:fillRect/>
          </a:stretch>
        </p:blipFill>
        <p:spPr>
          <a:xfrm>
            <a:off x="6208096" y="2198914"/>
            <a:ext cx="5633967" cy="31707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5. TOOLS AND TECHNOLOGIES USED</a:t>
            </a:r>
          </a:p>
        </p:txBody>
      </p:sp>
      <p:pic>
        <p:nvPicPr>
          <p:cNvPr id="5" name="Picture 4" descr="image5.png"/>
          <p:cNvPicPr>
            <a:picLocks noChangeAspect="1"/>
          </p:cNvPicPr>
          <p:nvPr/>
        </p:nvPicPr>
        <p:blipFill>
          <a:blip r:embed="rId2"/>
          <a:stretch>
            <a:fillRect/>
          </a:stretch>
        </p:blipFill>
        <p:spPr>
          <a:xfrm>
            <a:off x="1796143" y="5135880"/>
            <a:ext cx="8893628" cy="1402080"/>
          </a:xfrm>
          <a:prstGeom prst="rect">
            <a:avLst/>
          </a:prstGeom>
        </p:spPr>
      </p:pic>
      <p:sp>
        <p:nvSpPr>
          <p:cNvPr id="6" name="TextBox 5"/>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Microsoft Power BI Desktop was the main development tool used to import the CSV file, create the data model, build charts, format the report page and present the final dashboard.</a:t>
            </a:r>
          </a:p>
          <a:p>
            <a:pPr>
              <a:spcAft>
                <a:spcPts val="600"/>
              </a:spcAft>
              <a:defRPr sz="1500">
                <a:solidFill>
                  <a:srgbClr val="F5F5F5"/>
                </a:solidFill>
                <a:latin typeface="Arial"/>
              </a:defRPr>
            </a:pPr>
            <a:r>
              <a:rPr dirty="0"/>
              <a:t>• Power Query Editor was used to review columns, inspect missing values, change data types, remove unwanted spaces and prepare the data for analysis.</a:t>
            </a:r>
          </a:p>
          <a:p>
            <a:pPr>
              <a:spcAft>
                <a:spcPts val="600"/>
              </a:spcAft>
              <a:defRPr sz="1500">
                <a:solidFill>
                  <a:srgbClr val="F5F5F5"/>
                </a:solidFill>
                <a:latin typeface="Arial"/>
              </a:defRPr>
            </a:pPr>
            <a:r>
              <a:rPr dirty="0"/>
              <a:t>• DAX, or Data Analysis Expressions, can be used to create calculated columns and measures for totals, counts and summary values.</a:t>
            </a:r>
          </a:p>
          <a:p>
            <a:pPr>
              <a:spcAft>
                <a:spcPts val="600"/>
              </a:spcAft>
              <a:defRPr sz="1500">
                <a:solidFill>
                  <a:srgbClr val="F5F5F5"/>
                </a:solidFill>
                <a:latin typeface="Arial"/>
              </a:defRPr>
            </a:pPr>
            <a:r>
              <a:rPr dirty="0"/>
              <a:t>• The CSV dataset acted as the main source. Microsoft Excel could be used to inspect the source data and validate the structure before importing it into Power BI.</a:t>
            </a:r>
          </a:p>
          <a:p>
            <a:pPr>
              <a:spcAft>
                <a:spcPts val="600"/>
              </a:spcAft>
              <a:defRPr sz="1500">
                <a:solidFill>
                  <a:srgbClr val="F5F5F5"/>
                </a:solidFill>
                <a:latin typeface="Arial"/>
              </a:defRPr>
            </a:pPr>
            <a:r>
              <a:rPr dirty="0"/>
              <a:t>• A computer system was used to develop, save and present the final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6. DATA CLEANING AND TRANSFORMATION</a:t>
            </a:r>
          </a:p>
        </p:txBody>
      </p:sp>
      <p:pic>
        <p:nvPicPr>
          <p:cNvPr id="5" name="Picture 4" descr="image6.png"/>
          <p:cNvPicPr>
            <a:picLocks noChangeAspect="1"/>
          </p:cNvPicPr>
          <p:nvPr/>
        </p:nvPicPr>
        <p:blipFill>
          <a:blip r:embed="rId2"/>
          <a:stretch>
            <a:fillRect/>
          </a:stretch>
        </p:blipFill>
        <p:spPr>
          <a:xfrm>
            <a:off x="7097485" y="3853543"/>
            <a:ext cx="4996543" cy="2566852"/>
          </a:xfrm>
          <a:prstGeom prst="rect">
            <a:avLst/>
          </a:prstGeom>
        </p:spPr>
      </p:pic>
      <p:sp>
        <p:nvSpPr>
          <p:cNvPr id="6" name="TextBox 5"/>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Data cleaning prepares raw data for accurate analysis. Raw data may contain missing values, duplicate records, extra spaces, inconsistent text and incorrect data types.</a:t>
            </a:r>
          </a:p>
          <a:p>
            <a:pPr>
              <a:spcAft>
                <a:spcPts val="600"/>
              </a:spcAft>
              <a:defRPr sz="1500">
                <a:solidFill>
                  <a:srgbClr val="F5F5F5"/>
                </a:solidFill>
                <a:latin typeface="Arial"/>
              </a:defRPr>
            </a:pPr>
            <a:r>
              <a:rPr dirty="0"/>
              <a:t>• The Netflix CSV file was imported into Power BI. Column names and data types were reviewed, and missing values in director, cast, country, rating and </a:t>
            </a:r>
            <a:r>
              <a:rPr dirty="0" err="1"/>
              <a:t>date_added</a:t>
            </a:r>
            <a:r>
              <a:rPr dirty="0"/>
              <a:t> were checked.</a:t>
            </a:r>
          </a:p>
          <a:p>
            <a:pPr>
              <a:spcAft>
                <a:spcPts val="600"/>
              </a:spcAft>
              <a:defRPr sz="1500">
                <a:solidFill>
                  <a:srgbClr val="F5F5F5"/>
                </a:solidFill>
                <a:latin typeface="Arial"/>
              </a:defRPr>
            </a:pPr>
            <a:r>
              <a:rPr dirty="0"/>
              <a:t>• Duplicate records were reviewed using </a:t>
            </a:r>
            <a:r>
              <a:rPr dirty="0" err="1"/>
              <a:t>show_id</a:t>
            </a:r>
            <a:r>
              <a:rPr dirty="0"/>
              <a:t> and title. The </a:t>
            </a:r>
            <a:r>
              <a:rPr dirty="0" err="1"/>
              <a:t>release_year</a:t>
            </a:r>
            <a:r>
              <a:rPr dirty="0"/>
              <a:t> and </a:t>
            </a:r>
            <a:r>
              <a:rPr dirty="0" err="1"/>
              <a:t>date_added</a:t>
            </a:r>
            <a:r>
              <a:rPr dirty="0"/>
              <a:t> columns were prepared for year and month analysis.</a:t>
            </a:r>
          </a:p>
          <a:p>
            <a:pPr>
              <a:spcAft>
                <a:spcPts val="600"/>
              </a:spcAft>
              <a:defRPr sz="1500">
                <a:solidFill>
                  <a:srgbClr val="F5F5F5"/>
                </a:solidFill>
                <a:latin typeface="Arial"/>
              </a:defRPr>
            </a:pPr>
            <a:r>
              <a:rPr dirty="0"/>
              <a:t>• The </a:t>
            </a:r>
            <a:r>
              <a:rPr dirty="0" err="1"/>
              <a:t>listed_in</a:t>
            </a:r>
            <a:r>
              <a:rPr dirty="0"/>
              <a:t> and country columns were reviewed because they may contain multiple values. Unnecessary spaces and inconsistent text values were also checked.</a:t>
            </a:r>
          </a:p>
          <a:p>
            <a:pPr>
              <a:spcAft>
                <a:spcPts val="600"/>
              </a:spcAft>
              <a:defRPr sz="1500">
                <a:solidFill>
                  <a:srgbClr val="F5F5F5"/>
                </a:solidFill>
                <a:latin typeface="Arial"/>
              </a:defRPr>
            </a:pPr>
            <a:r>
              <a:rPr dirty="0"/>
              <a:t>• After cleaning and transformation, the prepared data was loaded into the Power BI data model and used to create charts and the dashboard.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7. DATA ANALYSIS</a:t>
            </a:r>
          </a:p>
        </p:txBody>
      </p:sp>
      <p:sp>
        <p:nvSpPr>
          <p:cNvPr id="4" name="TextBox 3"/>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After data cleaning and transformation, the dataset was analyzed using Power BI. The analysis focused on content type, genres, ratings, countries, release years and the date on which content was added to Netflix.</a:t>
            </a:r>
          </a:p>
          <a:p>
            <a:pPr>
              <a:spcAft>
                <a:spcPts val="600"/>
              </a:spcAft>
              <a:defRPr sz="1500">
                <a:solidFill>
                  <a:srgbClr val="F5F5F5"/>
                </a:solidFill>
                <a:latin typeface="Arial"/>
              </a:defRPr>
            </a:pPr>
            <a:r>
              <a:rPr dirty="0"/>
              <a:t>• The first analysis compared Movies and TV Shows. A donut chart was used because the size of each section represents the share of each content type.</a:t>
            </a:r>
          </a:p>
          <a:p>
            <a:pPr>
              <a:spcAft>
                <a:spcPts val="600"/>
              </a:spcAft>
              <a:defRPr sz="1500">
                <a:solidFill>
                  <a:srgbClr val="F5F5F5"/>
                </a:solidFill>
                <a:latin typeface="Arial"/>
              </a:defRPr>
            </a:pPr>
            <a:r>
              <a:rPr dirty="0"/>
              <a:t>• Genre analysis identified common categories such as Dramas, International Movies, Documentaries and Stand-Up Comedy.</a:t>
            </a:r>
          </a:p>
          <a:p>
            <a:pPr>
              <a:spcAft>
                <a:spcPts val="600"/>
              </a:spcAft>
              <a:defRPr sz="1500">
                <a:solidFill>
                  <a:srgbClr val="F5F5F5"/>
                </a:solidFill>
                <a:latin typeface="Arial"/>
              </a:defRPr>
            </a:pPr>
            <a:r>
              <a:rPr dirty="0"/>
              <a:t>• Rating analysis studied audience classification, with ratings such as TV-MA and TV-14 visible in the charts.</a:t>
            </a:r>
          </a:p>
          <a:p>
            <a:pPr>
              <a:spcAft>
                <a:spcPts val="600"/>
              </a:spcAft>
              <a:defRPr sz="1500">
                <a:solidFill>
                  <a:srgbClr val="F5F5F5"/>
                </a:solidFill>
                <a:latin typeface="Arial"/>
              </a:defRPr>
            </a:pPr>
            <a:r>
              <a:rPr dirty="0"/>
              <a:t>• Country analysis used a </a:t>
            </a:r>
            <a:r>
              <a:rPr dirty="0" err="1"/>
              <a:t>treemap</a:t>
            </a:r>
            <a:r>
              <a:rPr dirty="0"/>
              <a:t> to compare country contribution. Release-year analysis showed the distribution of titles across years.</a:t>
            </a:r>
          </a:p>
          <a:p>
            <a:pPr>
              <a:spcAft>
                <a:spcPts val="600"/>
              </a:spcAft>
              <a:defRPr sz="1500">
                <a:solidFill>
                  <a:srgbClr val="F5F5F5"/>
                </a:solidFill>
                <a:latin typeface="Arial"/>
              </a:defRPr>
            </a:pPr>
            <a:r>
              <a:rPr dirty="0"/>
              <a:t>• Monthly content analysis used </a:t>
            </a:r>
            <a:r>
              <a:rPr dirty="0" err="1"/>
              <a:t>date_added</a:t>
            </a:r>
            <a:r>
              <a:rPr dirty="0"/>
              <a:t> to understand variation in titles added during different months.</a:t>
            </a:r>
          </a:p>
          <a:p>
            <a:pPr>
              <a:spcAft>
                <a:spcPts val="600"/>
              </a:spcAft>
              <a:defRPr sz="1500">
                <a:solidFill>
                  <a:srgbClr val="F5F5F5"/>
                </a:solidFill>
                <a:latin typeface="Arial"/>
              </a:defRPr>
            </a:pPr>
            <a:r>
              <a:rPr dirty="0"/>
              <a:t>• All analyses were combined into one dashboard for quick understanding.</a:t>
            </a:r>
          </a:p>
        </p:txBody>
      </p:sp>
      <p:pic>
        <p:nvPicPr>
          <p:cNvPr id="6" name="Picture 5">
            <a:extLst>
              <a:ext uri="{FF2B5EF4-FFF2-40B4-BE49-F238E27FC236}">
                <a16:creationId xmlns:a16="http://schemas.microsoft.com/office/drawing/2014/main" id="{B5F32409-F37A-904C-A529-23DCD67DFF4E}"/>
              </a:ext>
            </a:extLst>
          </p:cNvPr>
          <p:cNvPicPr>
            <a:picLocks noChangeAspect="1"/>
          </p:cNvPicPr>
          <p:nvPr/>
        </p:nvPicPr>
        <p:blipFill>
          <a:blip r:embed="rId2"/>
          <a:stretch>
            <a:fillRect/>
          </a:stretch>
        </p:blipFill>
        <p:spPr>
          <a:xfrm>
            <a:off x="7155013" y="3620590"/>
            <a:ext cx="4732187" cy="2834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500" tmFilter="0, 0; .2, .5; .8, .5; 1, 0"/>
                                        <p:tgtEl>
                                          <p:spTgt spid="6"/>
                                        </p:tgtEl>
                                      </p:cBhvr>
                                    </p:animEffect>
                                    <p:animScale>
                                      <p:cBhvr>
                                        <p:cTn id="18"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8. VISUALIZATIONS</a:t>
            </a:r>
          </a:p>
        </p:txBody>
      </p:sp>
      <p:sp>
        <p:nvSpPr>
          <p:cNvPr id="4" name="TextBox 3"/>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Visualizations convert raw data into charts and graphs that are easier to understand. Eight main visualizations were created in this project.</a:t>
            </a:r>
          </a:p>
          <a:p>
            <a:pPr>
              <a:spcAft>
                <a:spcPts val="600"/>
              </a:spcAft>
              <a:defRPr sz="1500">
                <a:solidFill>
                  <a:srgbClr val="F5F5F5"/>
                </a:solidFill>
                <a:latin typeface="Arial"/>
              </a:defRPr>
            </a:pPr>
            <a:r>
              <a:rPr dirty="0"/>
              <a:t>• 1. Genres by Total Titles – bar chart comparing the number of titles across genres.</a:t>
            </a:r>
          </a:p>
          <a:p>
            <a:pPr>
              <a:spcAft>
                <a:spcPts val="600"/>
              </a:spcAft>
              <a:defRPr sz="1500">
                <a:solidFill>
                  <a:srgbClr val="F5F5F5"/>
                </a:solidFill>
                <a:latin typeface="Arial"/>
              </a:defRPr>
            </a:pPr>
            <a:r>
              <a:rPr dirty="0"/>
              <a:t>• 2. TV Shows and Movies – donut chart comparing the two content types.</a:t>
            </a:r>
          </a:p>
          <a:p>
            <a:pPr>
              <a:spcAft>
                <a:spcPts val="600"/>
              </a:spcAft>
              <a:defRPr sz="1500">
                <a:solidFill>
                  <a:srgbClr val="F5F5F5"/>
                </a:solidFill>
                <a:latin typeface="Arial"/>
              </a:defRPr>
            </a:pPr>
            <a:r>
              <a:rPr dirty="0"/>
              <a:t>• 3. Ratings by Total Titles – bar chart showing the number of titles under each rating.</a:t>
            </a:r>
          </a:p>
          <a:p>
            <a:pPr>
              <a:spcAft>
                <a:spcPts val="600"/>
              </a:spcAft>
              <a:defRPr sz="1500">
                <a:solidFill>
                  <a:srgbClr val="F5F5F5"/>
                </a:solidFill>
                <a:latin typeface="Arial"/>
              </a:defRPr>
            </a:pPr>
            <a:r>
              <a:rPr dirty="0"/>
              <a:t>• 4. Top 10 Countries by Movies and TV Shows – </a:t>
            </a:r>
            <a:r>
              <a:rPr dirty="0" err="1"/>
              <a:t>treemap</a:t>
            </a:r>
            <a:r>
              <a:rPr dirty="0"/>
              <a:t> comparing country contribution.</a:t>
            </a:r>
          </a:p>
          <a:p>
            <a:pPr>
              <a:spcAft>
                <a:spcPts val="600"/>
              </a:spcAft>
              <a:defRPr sz="1500">
                <a:solidFill>
                  <a:srgbClr val="F5F5F5"/>
                </a:solidFill>
                <a:latin typeface="Arial"/>
              </a:defRPr>
            </a:pPr>
            <a:r>
              <a:rPr dirty="0"/>
              <a:t>• 5. Total Movies and TV Shows by Release Year – area or line chart showing year-wise distribution.</a:t>
            </a:r>
          </a:p>
          <a:p>
            <a:pPr>
              <a:spcAft>
                <a:spcPts val="600"/>
              </a:spcAft>
              <a:defRPr sz="1500">
                <a:solidFill>
                  <a:srgbClr val="F5F5F5"/>
                </a:solidFill>
                <a:latin typeface="Arial"/>
              </a:defRPr>
            </a:pPr>
            <a:r>
              <a:rPr dirty="0"/>
              <a:t>• 6. Movies and TV Shows by Rating – column chart comparing content types under rating categories.</a:t>
            </a:r>
          </a:p>
          <a:p>
            <a:pPr>
              <a:spcAft>
                <a:spcPts val="600"/>
              </a:spcAft>
              <a:defRPr sz="1500">
                <a:solidFill>
                  <a:srgbClr val="F5F5F5"/>
                </a:solidFill>
                <a:latin typeface="Arial"/>
              </a:defRPr>
            </a:pPr>
            <a:r>
              <a:rPr dirty="0"/>
              <a:t>• 7. Content Added to Netflix by Month – line chart showing monthly additions.</a:t>
            </a:r>
          </a:p>
          <a:p>
            <a:pPr>
              <a:spcAft>
                <a:spcPts val="600"/>
              </a:spcAft>
              <a:defRPr sz="1500">
                <a:solidFill>
                  <a:srgbClr val="F5F5F5"/>
                </a:solidFill>
                <a:latin typeface="Arial"/>
              </a:defRPr>
            </a:pPr>
            <a:r>
              <a:rPr dirty="0"/>
              <a:t>• 8. Age Certification by Content Type – bar chart showing audience classification.</a:t>
            </a:r>
          </a:p>
        </p:txBody>
      </p:sp>
      <p:pic>
        <p:nvPicPr>
          <p:cNvPr id="6" name="Picture 5">
            <a:extLst>
              <a:ext uri="{FF2B5EF4-FFF2-40B4-BE49-F238E27FC236}">
                <a16:creationId xmlns:a16="http://schemas.microsoft.com/office/drawing/2014/main" id="{87409548-54BE-8861-2C19-E632AE473CFC}"/>
              </a:ext>
            </a:extLst>
          </p:cNvPr>
          <p:cNvPicPr>
            <a:picLocks noChangeAspect="1"/>
          </p:cNvPicPr>
          <p:nvPr/>
        </p:nvPicPr>
        <p:blipFill>
          <a:blip r:embed="rId2"/>
          <a:stretch>
            <a:fillRect/>
          </a:stretch>
        </p:blipFill>
        <p:spPr>
          <a:xfrm>
            <a:off x="7223760" y="1784732"/>
            <a:ext cx="4795909" cy="26991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9. POWER BI DASHBOARD</a:t>
            </a:r>
          </a:p>
        </p:txBody>
      </p:sp>
      <p:sp>
        <p:nvSpPr>
          <p:cNvPr id="9" name="Rounded Rectangle 8">
            <a:extLst>
              <a:ext uri="{FF2B5EF4-FFF2-40B4-BE49-F238E27FC236}">
                <a16:creationId xmlns:a16="http://schemas.microsoft.com/office/drawing/2014/main" id="{03D450FC-28A8-318A-B3E2-839064C423DE}"/>
              </a:ext>
            </a:extLst>
          </p:cNvPr>
          <p:cNvSpPr/>
          <p:nvPr/>
        </p:nvSpPr>
        <p:spPr>
          <a:xfrm>
            <a:off x="502920" y="1170432"/>
            <a:ext cx="11183112" cy="5440680"/>
          </a:xfrm>
          <a:prstGeom prst="roundRect">
            <a:avLst/>
          </a:prstGeom>
          <a:solidFill>
            <a:srgbClr val="18181E"/>
          </a:solidFill>
          <a:ln w="19050">
            <a:solidFill>
              <a:srgbClr val="E509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a:extLst>
              <a:ext uri="{FF2B5EF4-FFF2-40B4-BE49-F238E27FC236}">
                <a16:creationId xmlns:a16="http://schemas.microsoft.com/office/drawing/2014/main" id="{76EAAE9E-51AA-6E59-CF60-8848C8CD66EA}"/>
              </a:ext>
            </a:extLst>
          </p:cNvPr>
          <p:cNvPicPr>
            <a:picLocks noChangeAspect="1"/>
          </p:cNvPicPr>
          <p:nvPr/>
        </p:nvPicPr>
        <p:blipFill>
          <a:blip r:embed="rId2"/>
          <a:stretch>
            <a:fillRect/>
          </a:stretch>
        </p:blipFill>
        <p:spPr>
          <a:xfrm>
            <a:off x="828401" y="1490001"/>
            <a:ext cx="10541005" cy="47455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
                                        </p:tgtEl>
                                        <p:attrNameLst>
                                          <p:attrName>r</p:attrName>
                                        </p:attrNameLst>
                                      </p:cBhvr>
                                    </p:animRot>
                                    <p:animRot by="-240000">
                                      <p:cBhvr>
                                        <p:cTn id="7" dur="200" fill="hold">
                                          <p:stCondLst>
                                            <p:cond delay="200"/>
                                          </p:stCondLst>
                                        </p:cTn>
                                        <p:tgtEl>
                                          <p:spTgt spid="3"/>
                                        </p:tgtEl>
                                        <p:attrNameLst>
                                          <p:attrName>r</p:attrName>
                                        </p:attrNameLst>
                                      </p:cBhvr>
                                    </p:animRot>
                                    <p:animRot by="240000">
                                      <p:cBhvr>
                                        <p:cTn id="8" dur="200" fill="hold">
                                          <p:stCondLst>
                                            <p:cond delay="400"/>
                                          </p:stCondLst>
                                        </p:cTn>
                                        <p:tgtEl>
                                          <p:spTgt spid="3"/>
                                        </p:tgtEl>
                                        <p:attrNameLst>
                                          <p:attrName>r</p:attrName>
                                        </p:attrNameLst>
                                      </p:cBhvr>
                                    </p:animRot>
                                    <p:animRot by="-240000">
                                      <p:cBhvr>
                                        <p:cTn id="9" dur="200" fill="hold">
                                          <p:stCondLst>
                                            <p:cond delay="600"/>
                                          </p:stCondLst>
                                        </p:cTn>
                                        <p:tgtEl>
                                          <p:spTgt spid="3"/>
                                        </p:tgtEl>
                                        <p:attrNameLst>
                                          <p:attrName>r</p:attrName>
                                        </p:attrNameLst>
                                      </p:cBhvr>
                                    </p:animRot>
                                    <p:animRot by="120000">
                                      <p:cBhvr>
                                        <p:cTn id="10"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10. KEY INSIGHTS</a:t>
            </a:r>
          </a:p>
        </p:txBody>
      </p:sp>
      <p:sp>
        <p:nvSpPr>
          <p:cNvPr id="6" name="TextBox 5"/>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The following insights were observed from the KPI cards and charts:</a:t>
            </a:r>
          </a:p>
          <a:p>
            <a:pPr>
              <a:spcAft>
                <a:spcPts val="600"/>
              </a:spcAft>
              <a:defRPr sz="1500">
                <a:solidFill>
                  <a:srgbClr val="F5F5F5"/>
                </a:solidFill>
                <a:latin typeface="Arial"/>
              </a:defRPr>
            </a:pPr>
            <a:r>
              <a:rPr dirty="0"/>
              <a:t>• Movies are more numerous than TV Shows in the displayed comparison.</a:t>
            </a:r>
          </a:p>
          <a:p>
            <a:pPr>
              <a:spcAft>
                <a:spcPts val="600"/>
              </a:spcAft>
              <a:defRPr sz="1500">
                <a:solidFill>
                  <a:srgbClr val="F5F5F5"/>
                </a:solidFill>
                <a:latin typeface="Arial"/>
              </a:defRPr>
            </a:pPr>
            <a:r>
              <a:rPr dirty="0"/>
              <a:t>• The United States contributes the largest number of titles in the Top 10 Countries </a:t>
            </a:r>
            <a:r>
              <a:rPr dirty="0" err="1"/>
              <a:t>treemap</a:t>
            </a:r>
            <a:r>
              <a:rPr dirty="0"/>
              <a:t>.</a:t>
            </a:r>
          </a:p>
          <a:p>
            <a:pPr>
              <a:spcAft>
                <a:spcPts val="600"/>
              </a:spcAft>
              <a:defRPr sz="1500">
                <a:solidFill>
                  <a:srgbClr val="F5F5F5"/>
                </a:solidFill>
                <a:latin typeface="Arial"/>
              </a:defRPr>
            </a:pPr>
            <a:r>
              <a:rPr dirty="0"/>
              <a:t>• India is also an important country contributing Netflix content.</a:t>
            </a:r>
          </a:p>
          <a:p>
            <a:pPr>
              <a:spcAft>
                <a:spcPts val="600"/>
              </a:spcAft>
              <a:defRPr sz="1500">
                <a:solidFill>
                  <a:srgbClr val="F5F5F5"/>
                </a:solidFill>
                <a:latin typeface="Arial"/>
              </a:defRPr>
            </a:pPr>
            <a:r>
              <a:rPr dirty="0"/>
              <a:t>• Dramas, International Movies, Documentaries and Stand-Up Comedy are major visible genres.</a:t>
            </a:r>
          </a:p>
          <a:p>
            <a:pPr>
              <a:spcAft>
                <a:spcPts val="600"/>
              </a:spcAft>
              <a:defRPr sz="1500">
                <a:solidFill>
                  <a:srgbClr val="F5F5F5"/>
                </a:solidFill>
                <a:latin typeface="Arial"/>
              </a:defRPr>
            </a:pPr>
            <a:r>
              <a:rPr dirty="0"/>
              <a:t>• TV-MA and TV-14 are among the most common ratings shown.</a:t>
            </a:r>
          </a:p>
          <a:p>
            <a:pPr>
              <a:spcAft>
                <a:spcPts val="600"/>
              </a:spcAft>
              <a:defRPr sz="1500">
                <a:solidFill>
                  <a:srgbClr val="F5F5F5"/>
                </a:solidFill>
                <a:latin typeface="Arial"/>
              </a:defRPr>
            </a:pPr>
            <a:r>
              <a:rPr dirty="0"/>
              <a:t>• Older years contain comparatively fewer titles, while recent years show stronger concentration.</a:t>
            </a:r>
          </a:p>
          <a:p>
            <a:pPr>
              <a:spcAft>
                <a:spcPts val="600"/>
              </a:spcAft>
              <a:defRPr sz="1500">
                <a:solidFill>
                  <a:srgbClr val="F5F5F5"/>
                </a:solidFill>
                <a:latin typeface="Arial"/>
              </a:defRPr>
            </a:pPr>
            <a:r>
              <a:rPr dirty="0"/>
              <a:t>• The number of titles added changes from month to month.</a:t>
            </a:r>
          </a:p>
          <a:p>
            <a:pPr>
              <a:spcAft>
                <a:spcPts val="600"/>
              </a:spcAft>
              <a:defRPr sz="1500">
                <a:solidFill>
                  <a:srgbClr val="F5F5F5"/>
                </a:solidFill>
                <a:latin typeface="Arial"/>
              </a:defRPr>
            </a:pPr>
            <a:r>
              <a:rPr dirty="0"/>
              <a:t>• KPI cards provide a quick summary before detailed analysis begins.</a:t>
            </a:r>
          </a:p>
        </p:txBody>
      </p:sp>
      <p:pic>
        <p:nvPicPr>
          <p:cNvPr id="4" name="Picture 3">
            <a:extLst>
              <a:ext uri="{FF2B5EF4-FFF2-40B4-BE49-F238E27FC236}">
                <a16:creationId xmlns:a16="http://schemas.microsoft.com/office/drawing/2014/main" id="{3A0C2795-8AEB-EF0F-4B8F-6B3BD784EEAA}"/>
              </a:ext>
            </a:extLst>
          </p:cNvPr>
          <p:cNvPicPr>
            <a:picLocks noChangeAspect="1"/>
          </p:cNvPicPr>
          <p:nvPr/>
        </p:nvPicPr>
        <p:blipFill>
          <a:blip r:embed="rId2"/>
          <a:stretch>
            <a:fillRect/>
          </a:stretch>
        </p:blipFill>
        <p:spPr>
          <a:xfrm>
            <a:off x="6873966" y="3662136"/>
            <a:ext cx="4975075" cy="27386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11. CONCLUSION</a:t>
            </a:r>
          </a:p>
        </p:txBody>
      </p:sp>
      <p:sp>
        <p:nvSpPr>
          <p:cNvPr id="4" name="TextBox 3"/>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This project demonstrates how Microsoft Power BI can be used to analyze a real-world entertainment dataset.</a:t>
            </a:r>
          </a:p>
          <a:p>
            <a:pPr>
              <a:spcAft>
                <a:spcPts val="600"/>
              </a:spcAft>
              <a:defRPr sz="1500">
                <a:solidFill>
                  <a:srgbClr val="F5F5F5"/>
                </a:solidFill>
                <a:latin typeface="Arial"/>
              </a:defRPr>
            </a:pPr>
            <a:r>
              <a:rPr dirty="0"/>
              <a:t>• The Netflix Titles Dataset was imported, reviewed, cleaned, transformed and visualized. Movies and TV Shows were compared, genres and ratings were studied, and country contribution was analyzed.</a:t>
            </a:r>
          </a:p>
          <a:p>
            <a:pPr>
              <a:spcAft>
                <a:spcPts val="600"/>
              </a:spcAft>
              <a:defRPr sz="1500">
                <a:solidFill>
                  <a:srgbClr val="F5F5F5"/>
                </a:solidFill>
                <a:latin typeface="Arial"/>
              </a:defRPr>
            </a:pPr>
            <a:r>
              <a:rPr dirty="0"/>
              <a:t>• Data cleaning was important because missing values, incorrect data types, duplicate records and inconsistent text can affect the accuracy of analysis.</a:t>
            </a:r>
          </a:p>
          <a:p>
            <a:pPr>
              <a:spcAft>
                <a:spcPts val="600"/>
              </a:spcAft>
              <a:defRPr sz="1500">
                <a:solidFill>
                  <a:srgbClr val="F5F5F5"/>
                </a:solidFill>
                <a:latin typeface="Arial"/>
              </a:defRPr>
            </a:pPr>
            <a:r>
              <a:rPr dirty="0"/>
              <a:t>• Power Query helped prepare the data, while KPI cards and charts presented the results in a simple and professional format.</a:t>
            </a:r>
          </a:p>
          <a:p>
            <a:pPr>
              <a:spcAft>
                <a:spcPts val="600"/>
              </a:spcAft>
              <a:defRPr sz="1500">
                <a:solidFill>
                  <a:srgbClr val="F5F5F5"/>
                </a:solidFill>
                <a:latin typeface="Arial"/>
              </a:defRPr>
            </a:pPr>
            <a:r>
              <a:rPr dirty="0"/>
              <a:t>• Overall, the project improved practical knowledge of data preparation, Power Query, DAX concepts, data visualization and dashboard design.</a:t>
            </a:r>
          </a:p>
        </p:txBody>
      </p:sp>
      <p:pic>
        <p:nvPicPr>
          <p:cNvPr id="5" name="Picture 4">
            <a:extLst>
              <a:ext uri="{FF2B5EF4-FFF2-40B4-BE49-F238E27FC236}">
                <a16:creationId xmlns:a16="http://schemas.microsoft.com/office/drawing/2014/main" id="{C368D385-EED9-F1B3-A913-C8149765E3E5}"/>
              </a:ext>
            </a:extLst>
          </p:cNvPr>
          <p:cNvPicPr>
            <a:picLocks noChangeAspect="1"/>
          </p:cNvPicPr>
          <p:nvPr/>
        </p:nvPicPr>
        <p:blipFill>
          <a:blip r:embed="rId2"/>
          <a:stretch>
            <a:fillRect/>
          </a:stretch>
        </p:blipFill>
        <p:spPr>
          <a:xfrm>
            <a:off x="6932295" y="3429000"/>
            <a:ext cx="4543425" cy="3028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 calcmode="lin" valueType="num">
                                      <p:cBhvr additive="base">
                                        <p:cTn id="1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8" presetClass="emph" presetSubtype="0" fill="hold" nodeType="clickEffect">
                                  <p:stCondLst>
                                    <p:cond delay="0"/>
                                  </p:stCondLst>
                                  <p:childTnLst>
                                    <p:animRot by="21600000">
                                      <p:cBhvr>
                                        <p:cTn id="19" dur="2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94360"/>
          </a:xfrm>
          <a:prstGeom prst="rect">
            <a:avLst/>
          </a:prstGeom>
          <a:noFill/>
        </p:spPr>
        <p:txBody>
          <a:bodyPr wrap="none">
            <a:spAutoFit/>
          </a:bodyPr>
          <a:lstStyle/>
          <a:p>
            <a:pPr>
              <a:defRPr sz="2700" b="1">
                <a:solidFill>
                  <a:srgbClr val="E50914"/>
                </a:solidFill>
                <a:latin typeface="Arial"/>
              </a:defRPr>
            </a:pPr>
            <a:r>
              <a:rPr dirty="0"/>
              <a:t>12. PROJECT SUMMARY</a:t>
            </a:r>
          </a:p>
        </p:txBody>
      </p:sp>
      <p:sp>
        <p:nvSpPr>
          <p:cNvPr id="4" name="TextBox 3"/>
          <p:cNvSpPr txBox="1"/>
          <p:nvPr/>
        </p:nvSpPr>
        <p:spPr>
          <a:xfrm>
            <a:off x="594360" y="1234440"/>
            <a:ext cx="6629400" cy="5303520"/>
          </a:xfrm>
          <a:prstGeom prst="rect">
            <a:avLst/>
          </a:prstGeom>
          <a:noFill/>
        </p:spPr>
        <p:txBody>
          <a:bodyPr wrap="square">
            <a:spAutoFit/>
          </a:bodyPr>
          <a:lstStyle/>
          <a:p>
            <a:pPr>
              <a:spcAft>
                <a:spcPts val="600"/>
              </a:spcAft>
              <a:defRPr sz="1500">
                <a:solidFill>
                  <a:srgbClr val="F5F5F5"/>
                </a:solidFill>
                <a:latin typeface="Arial"/>
              </a:defRPr>
            </a:pPr>
            <a:r>
              <a:rPr dirty="0"/>
              <a:t>• The Netflix Content Analysis project was completed using Microsoft Power BI and the Netflix Titles Dataset.</a:t>
            </a:r>
          </a:p>
          <a:p>
            <a:pPr>
              <a:spcAft>
                <a:spcPts val="600"/>
              </a:spcAft>
              <a:defRPr sz="1500">
                <a:solidFill>
                  <a:srgbClr val="F5F5F5"/>
                </a:solidFill>
                <a:latin typeface="Arial"/>
              </a:defRPr>
            </a:pPr>
            <a:r>
              <a:rPr dirty="0"/>
              <a:t>• Project Title: Netflix Content Analysis</a:t>
            </a:r>
          </a:p>
          <a:p>
            <a:pPr>
              <a:spcAft>
                <a:spcPts val="600"/>
              </a:spcAft>
              <a:defRPr sz="1500">
                <a:solidFill>
                  <a:srgbClr val="F5F5F5"/>
                </a:solidFill>
                <a:latin typeface="Arial"/>
              </a:defRPr>
            </a:pPr>
            <a:r>
              <a:rPr dirty="0"/>
              <a:t>• Tool Used: Microsoft Power BI</a:t>
            </a:r>
          </a:p>
          <a:p>
            <a:pPr>
              <a:spcAft>
                <a:spcPts val="600"/>
              </a:spcAft>
              <a:defRPr sz="1500">
                <a:solidFill>
                  <a:srgbClr val="F5F5F5"/>
                </a:solidFill>
                <a:latin typeface="Arial"/>
              </a:defRPr>
            </a:pPr>
            <a:r>
              <a:rPr dirty="0"/>
              <a:t>• Dataset: Netflix Titles Dataset</a:t>
            </a:r>
          </a:p>
          <a:p>
            <a:pPr>
              <a:spcAft>
                <a:spcPts val="600"/>
              </a:spcAft>
              <a:defRPr sz="1500">
                <a:solidFill>
                  <a:srgbClr val="F5F5F5"/>
                </a:solidFill>
                <a:latin typeface="Arial"/>
              </a:defRPr>
            </a:pPr>
            <a:r>
              <a:rPr dirty="0"/>
              <a:t>• Main Content Types: Movies and TV Shows</a:t>
            </a:r>
          </a:p>
          <a:p>
            <a:pPr>
              <a:spcAft>
                <a:spcPts val="600"/>
              </a:spcAft>
              <a:defRPr sz="1500">
                <a:solidFill>
                  <a:srgbClr val="F5F5F5"/>
                </a:solidFill>
                <a:latin typeface="Arial"/>
              </a:defRPr>
            </a:pPr>
            <a:r>
              <a:rPr dirty="0"/>
              <a:t>• Main Visualizations: Bar chart, donut chart, </a:t>
            </a:r>
            <a:r>
              <a:rPr dirty="0" err="1"/>
              <a:t>treemap</a:t>
            </a:r>
            <a:r>
              <a:rPr dirty="0"/>
              <a:t>, area/line chart and column chart</a:t>
            </a:r>
          </a:p>
          <a:p>
            <a:pPr>
              <a:spcAft>
                <a:spcPts val="600"/>
              </a:spcAft>
              <a:defRPr sz="1500">
                <a:solidFill>
                  <a:srgbClr val="F5F5F5"/>
                </a:solidFill>
                <a:latin typeface="Arial"/>
              </a:defRPr>
            </a:pPr>
            <a:r>
              <a:rPr dirty="0"/>
              <a:t>• KPI Cards: Total Titles, Total Rating, Total Genres, Total TV Shows, Start Date, End Date and Locations</a:t>
            </a:r>
          </a:p>
          <a:p>
            <a:pPr>
              <a:spcAft>
                <a:spcPts val="600"/>
              </a:spcAft>
              <a:defRPr sz="1500">
                <a:solidFill>
                  <a:srgbClr val="F5F5F5"/>
                </a:solidFill>
                <a:latin typeface="Arial"/>
              </a:defRPr>
            </a:pPr>
            <a:r>
              <a:rPr dirty="0"/>
              <a:t>• Analysis Areas: Genres, ratings, countries, release years, monthly additions and age certification</a:t>
            </a:r>
          </a:p>
          <a:p>
            <a:pPr>
              <a:spcAft>
                <a:spcPts val="600"/>
              </a:spcAft>
              <a:defRPr sz="1500">
                <a:solidFill>
                  <a:srgbClr val="F5F5F5"/>
                </a:solidFill>
                <a:latin typeface="Arial"/>
              </a:defRPr>
            </a:pPr>
            <a:r>
              <a:rPr dirty="0"/>
              <a:t>• Cleaning Activities: Missing-value review, data-type checking, duplicate review and text/date transformation</a:t>
            </a:r>
          </a:p>
          <a:p>
            <a:pPr>
              <a:spcAft>
                <a:spcPts val="600"/>
              </a:spcAft>
              <a:defRPr sz="1500">
                <a:solidFill>
                  <a:srgbClr val="F5F5F5"/>
                </a:solidFill>
                <a:latin typeface="Arial"/>
              </a:defRPr>
            </a:pPr>
            <a:r>
              <a:rPr dirty="0"/>
              <a:t>• Final Output: Netflix-style Power BI dashboard</a:t>
            </a:r>
          </a:p>
          <a:p>
            <a:pPr>
              <a:spcAft>
                <a:spcPts val="600"/>
              </a:spcAft>
              <a:defRPr sz="1500">
                <a:solidFill>
                  <a:srgbClr val="F5F5F5"/>
                </a:solidFill>
                <a:latin typeface="Arial"/>
              </a:defRPr>
            </a:pPr>
            <a:r>
              <a:rPr dirty="0"/>
              <a:t>• Learning Outcome: Improved knowledge of data cleaning, analysis, visualization and reporting</a:t>
            </a:r>
          </a:p>
        </p:txBody>
      </p:sp>
      <p:pic>
        <p:nvPicPr>
          <p:cNvPr id="5" name="Picture 4">
            <a:extLst>
              <a:ext uri="{FF2B5EF4-FFF2-40B4-BE49-F238E27FC236}">
                <a16:creationId xmlns:a16="http://schemas.microsoft.com/office/drawing/2014/main" id="{B79BE167-22A4-C5E2-D57D-877228550274}"/>
              </a:ext>
            </a:extLst>
          </p:cNvPr>
          <p:cNvPicPr>
            <a:picLocks noChangeAspect="1"/>
          </p:cNvPicPr>
          <p:nvPr/>
        </p:nvPicPr>
        <p:blipFill>
          <a:blip r:embed="rId2"/>
          <a:stretch>
            <a:fillRect/>
          </a:stretch>
        </p:blipFill>
        <p:spPr>
          <a:xfrm>
            <a:off x="7223760" y="3155450"/>
            <a:ext cx="4628088" cy="30851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F8550F76-331F-BDB0-1EF8-C779FE2B877C}"/>
              </a:ext>
            </a:extLst>
          </p:cNvPr>
          <p:cNvSpPr txBox="1"/>
          <p:nvPr/>
        </p:nvSpPr>
        <p:spPr>
          <a:xfrm>
            <a:off x="2884715" y="1981982"/>
            <a:ext cx="6139542" cy="738664"/>
          </a:xfrm>
          <a:prstGeom prst="rect">
            <a:avLst/>
          </a:prstGeom>
          <a:noFill/>
        </p:spPr>
        <p:txBody>
          <a:bodyPr wrap="square">
            <a:spAutoFit/>
          </a:bodyPr>
          <a:lstStyle/>
          <a:p>
            <a:pPr algn="ctr">
              <a:defRPr sz="4200" b="1">
                <a:solidFill>
                  <a:srgbClr val="E50914"/>
                </a:solidFill>
              </a:defRPr>
            </a:pPr>
            <a:r>
              <a:rPr lang="en-US" sz="4200" dirty="0"/>
              <a:t>THANK YOU</a:t>
            </a:r>
          </a:p>
        </p:txBody>
      </p:sp>
      <p:sp>
        <p:nvSpPr>
          <p:cNvPr id="11" name="TextBox 10">
            <a:extLst>
              <a:ext uri="{FF2B5EF4-FFF2-40B4-BE49-F238E27FC236}">
                <a16:creationId xmlns:a16="http://schemas.microsoft.com/office/drawing/2014/main" id="{48C7D0BE-F279-4D08-4122-58AB976DE27A}"/>
              </a:ext>
            </a:extLst>
          </p:cNvPr>
          <p:cNvSpPr txBox="1"/>
          <p:nvPr/>
        </p:nvSpPr>
        <p:spPr>
          <a:xfrm>
            <a:off x="2797629" y="2744688"/>
            <a:ext cx="6139542" cy="430887"/>
          </a:xfrm>
          <a:prstGeom prst="rect">
            <a:avLst/>
          </a:prstGeom>
          <a:noFill/>
        </p:spPr>
        <p:txBody>
          <a:bodyPr wrap="square">
            <a:spAutoFit/>
          </a:bodyPr>
          <a:lstStyle/>
          <a:p>
            <a:pPr algn="ctr">
              <a:defRPr sz="2200">
                <a:solidFill>
                  <a:srgbClr val="F5F5F5"/>
                </a:solidFill>
              </a:defRPr>
            </a:pPr>
            <a:r>
              <a:rPr lang="en-US" sz="2200" dirty="0"/>
              <a:t>Questions &amp; Discussion</a:t>
            </a:r>
          </a:p>
        </p:txBody>
      </p:sp>
      <p:pic>
        <p:nvPicPr>
          <p:cNvPr id="13" name="Picture 12" descr="netflix_donut.png">
            <a:extLst>
              <a:ext uri="{FF2B5EF4-FFF2-40B4-BE49-F238E27FC236}">
                <a16:creationId xmlns:a16="http://schemas.microsoft.com/office/drawing/2014/main" id="{D26988EB-278D-1387-6778-2C640566A5B4}"/>
              </a:ext>
            </a:extLst>
          </p:cNvPr>
          <p:cNvPicPr>
            <a:picLocks noChangeAspect="1"/>
          </p:cNvPicPr>
          <p:nvPr/>
        </p:nvPicPr>
        <p:blipFill>
          <a:blip r:embed="rId2"/>
          <a:stretch>
            <a:fillRect/>
          </a:stretch>
        </p:blipFill>
        <p:spPr>
          <a:xfrm>
            <a:off x="4088739" y="3429000"/>
            <a:ext cx="4014215" cy="1362456"/>
          </a:xfrm>
          <a:prstGeom prst="rect">
            <a:avLst/>
          </a:prstGeom>
        </p:spPr>
      </p:pic>
      <p:sp>
        <p:nvSpPr>
          <p:cNvPr id="15" name="TextBox 14">
            <a:extLst>
              <a:ext uri="{FF2B5EF4-FFF2-40B4-BE49-F238E27FC236}">
                <a16:creationId xmlns:a16="http://schemas.microsoft.com/office/drawing/2014/main" id="{8D36B706-B2AC-5DD8-2BF4-3192586D266C}"/>
              </a:ext>
            </a:extLst>
          </p:cNvPr>
          <p:cNvSpPr txBox="1"/>
          <p:nvPr/>
        </p:nvSpPr>
        <p:spPr>
          <a:xfrm>
            <a:off x="4088739" y="4492316"/>
            <a:ext cx="3886200" cy="274320"/>
          </a:xfrm>
          <a:prstGeom prst="rect">
            <a:avLst/>
          </a:prstGeom>
          <a:noFill/>
        </p:spPr>
        <p:txBody>
          <a:bodyPr wrap="none">
            <a:spAutoFit/>
          </a:bodyPr>
          <a:lstStyle/>
          <a:p>
            <a:pPr>
              <a:defRPr sz="1000">
                <a:solidFill>
                  <a:srgbClr val="BEBEC6"/>
                </a:solidFill>
              </a:defRPr>
            </a:pPr>
            <a:r>
              <a:rPr dirty="0"/>
              <a:t>Netflix Content 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2000"/>
                                        <p:tgtEl>
                                          <p:spTgt spid="13"/>
                                        </p:tgtEl>
                                      </p:cBhvr>
                                    </p:animEffect>
                                    <p:anim calcmode="lin" valueType="num">
                                      <p:cBhvr>
                                        <p:cTn id="19" dur="2000" fill="hold"/>
                                        <p:tgtEl>
                                          <p:spTgt spid="13"/>
                                        </p:tgtEl>
                                        <p:attrNameLst>
                                          <p:attrName>ppt_w</p:attrName>
                                        </p:attrNameLst>
                                      </p:cBhvr>
                                      <p:tavLst>
                                        <p:tav tm="0" fmla="#ppt_w*sin(2.5*pi*$)">
                                          <p:val>
                                            <p:fltVal val="0"/>
                                          </p:val>
                                        </p:tav>
                                        <p:tav tm="100000">
                                          <p:val>
                                            <p:fltVal val="1"/>
                                          </p:val>
                                        </p:tav>
                                      </p:tavLst>
                                    </p:anim>
                                    <p:anim calcmode="lin" valueType="num">
                                      <p:cBhvr>
                                        <p:cTn id="20"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1581</Words>
  <Application>Microsoft Office PowerPoint</Application>
  <PresentationFormat>Widescreen</PresentationFormat>
  <Paragraphs>108</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Administrator</cp:lastModifiedBy>
  <cp:revision>4</cp:revision>
  <dcterms:created xsi:type="dcterms:W3CDTF">2013-01-27T09:14:16Z</dcterms:created>
  <dcterms:modified xsi:type="dcterms:W3CDTF">2026-10-06T07:21:51Z</dcterms:modified>
  <cp:category/>
</cp:coreProperties>
</file>